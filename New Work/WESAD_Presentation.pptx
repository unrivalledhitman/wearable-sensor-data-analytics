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07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Deep Learning Model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Affective State Recognition from Wearable Physiological Sensors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74980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009885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Indrajeet Mondal  ·  Susmita Bera  ·  Rajeev Nayan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1703" y="2911547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Application, Narula Institute of Technology, Kolkata,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8660" y="332907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8660" y="3316007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326129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3326129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Computing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5263" y="32889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3284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CNN-BiGRU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11234" y="388162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76549" y="38816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1634" y="387966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1634" y="386268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84863" y="4347972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99954" y="437867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WESAD  |  Subjects: 15  |  Classes: 4</a:t>
            </a:r>
            <a:endParaRPr lang="en-US" sz="1050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7D4DB996-74BA-936B-06DD-46C86D522BEB}"/>
              </a:ext>
            </a:extLst>
          </p:cNvPr>
          <p:cNvSpPr/>
          <p:nvPr/>
        </p:nvSpPr>
        <p:spPr>
          <a:xfrm>
            <a:off x="600891" y="2359043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Project Guide: Suseta Datta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lightweight affective computing matters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82496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WESAD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wearable physiological signals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distribution, UMAP, raw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18688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2552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547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Windowing, alignment, normalization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→ BiGRU → Attention → Classifier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914400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914400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914400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950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243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LOSO, class balancing, AdamW, AMP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682496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1682496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1682496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 Model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20116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confusion matrix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450592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2450592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2450592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Balanced Sampling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27797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minority class detection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218688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3218688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3218688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2552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Balanced Comparison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3547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metric analysis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986784"/>
            <a:ext cx="40233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46320" y="3986784"/>
            <a:ext cx="384048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3986784"/>
            <a:ext cx="384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0352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Comparison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4315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vs. published WESAD methods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292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124712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1498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Mental Health Crisis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stress, anxiety &amp; depression — continuous monitoring is critical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50292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020824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020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1109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Wearables Lack Intelligence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2176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collect data but lack predictive affective insights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50292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916936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16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Models, Poor Deployability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0723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models (2M–6M params) too large for edge wearables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48456"/>
            <a:ext cx="502920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Challenge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3968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dominates (~65–75%); minority states hard to detect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960120"/>
            <a:ext cx="3017520" cy="35661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15087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CNN-BiGRU (~1.2M params)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19842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 fewer params vs CNN-LSTM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24597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for key moment focus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293522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4-class LOSO evaluation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4107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for class balance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06440" y="38862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 faster training than BiLSTM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WESAD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5087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(S2–S17)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21408" y="914400"/>
            <a:ext cx="15087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21408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21408" y="14630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85616" y="914400"/>
            <a:ext cx="15087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85616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Hz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85616" y="14630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(RespiBAN)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9824" y="914400"/>
            <a:ext cx="15087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9824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Hz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9824" y="14630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(Empatica E4)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14032" y="914400"/>
            <a:ext cx="15087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14032" y="960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14032" y="14630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Channels Used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475488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wr_acc_mag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Magnitude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wr_eda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Electrodermal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wr_temp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ch_ecg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Electrocardiogram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ch_resp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ch_acc_mag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 Magnitude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ch_eda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Electrodermal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2514600"/>
            <a:ext cx="475488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2514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103120" y="2514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0" y="2514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0" y="2103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Affective States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0" y="2560320"/>
            <a:ext cx="33832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486400" y="2560320"/>
            <a:ext cx="18288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60720" y="25968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60720" y="283464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resting state (~65–75% of data)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86400" y="3218688"/>
            <a:ext cx="33832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486400" y="3218688"/>
            <a:ext cx="18288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760720" y="325526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760720" y="34930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TSST protocol induced (~10%)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3877056"/>
            <a:ext cx="33832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486400" y="3877056"/>
            <a:ext cx="18288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0" y="39136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760720" y="41513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Funny video clips (~6%)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86400" y="4535424"/>
            <a:ext cx="33832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486400" y="4535424"/>
            <a:ext cx="1828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0" y="4572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760720" y="48097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meditation (~12%)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Class Distribution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lass_distribution_over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840480" cy="2560320"/>
          </a:xfrm>
          <a:prstGeom prst="rect">
            <a:avLst/>
          </a:prstGeom>
        </p:spPr>
      </p:pic>
      <p:pic>
        <p:nvPicPr>
          <p:cNvPr id="5" name="Image 1" descr="/home/claude/class_distribution_subject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914400"/>
            <a:ext cx="4389120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657600"/>
            <a:ext cx="178308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3749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40965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~12,000 samples vs others: ~1,000–2,500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377440" y="3657600"/>
            <a:ext cx="178308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468880" y="3749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Pattern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468880" y="409651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subjects show the same imbalance ratio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Signal Patterns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Projection (Sample Subject)</a:t>
            </a:r>
            <a:endParaRPr lang="en-US" sz="1200" dirty="0"/>
          </a:p>
        </p:txBody>
      </p:sp>
      <p:pic>
        <p:nvPicPr>
          <p:cNvPr id="5" name="Image 0" descr="/home/claude/embedding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93192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206240"/>
            <a:ext cx="39319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251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reveals moderate class separability — 4 distinct clusters with partial overlap between meditation and amusement, confirming classification difficulty.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Means per Class (S10)</a:t>
            </a:r>
            <a:endParaRPr lang="en-US" sz="1200" dirty="0"/>
          </a:p>
        </p:txBody>
      </p:sp>
      <p:pic>
        <p:nvPicPr>
          <p:cNvPr id="9" name="Image 1" descr="/home/claude/channel_means_sample_sub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188720"/>
            <a:ext cx="4389120" cy="2560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80560" y="3840480"/>
            <a:ext cx="43891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0" y="38862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wr_acc_mag and wrist/chest temperature channels show consistent mean values across all affective states — suggesting these act as background physiological signals. EDA channels show the most class-discriminative variation, consistent with physiological literature.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0759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.pkl Files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1848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@ ~700 Hz (ECG, EDA, Resp, Temp, ACC)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@ ~32 Hz (EDA, Temp, ACC)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960120"/>
            <a:ext cx="26517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30759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Wrist Signals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61848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 to match chest sampling rate; grids normalised to [0,1]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9904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130759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ACC Magnitude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161848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(x,y,z) → scalar: √(x²+y²+z²)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both chest and wrist sensors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09067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to 32 Hz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40156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averaging (preserves signal energy)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stack: 8-channel feature matrix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27432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73552" y="2743200"/>
            <a:ext cx="26517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73552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09067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Segmentation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40156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60s (1920 timesteps)  |  Overlap = 50%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by 70% dominance threshold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274320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9904" y="2743200"/>
            <a:ext cx="26517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9904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9632" y="3090672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Normalisation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40156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Per-fold, per-channel, streaming computation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from test subjects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CNN-BiGRU-Attention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463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46304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1920, 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channels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 @ 32Hz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21945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463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4630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Front-End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1920, 64)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84832" y="1719072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Conv1D×2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k=3, pad=1,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21945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1463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03320" y="1005840"/>
            <a:ext cx="1463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BiGRU ×2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1920, 256)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76472" y="1719072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hidden=128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fwd+bwd concat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21945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94960" y="1005840"/>
            <a:ext cx="1463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10058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+ MHA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256)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68112" y="1719072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4-head attention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d_k=64 per head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21945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86600" y="1005840"/>
            <a:ext cx="14630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86600" y="1005840"/>
            <a:ext cx="14630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8660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4)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9752" y="1719072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FC(256→128)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FC(128→4)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192024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7307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3657600"/>
            <a:ext cx="192024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0" y="37307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56032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Params vs CNN-LSTM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57600"/>
            <a:ext cx="192024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37307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6344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3657600"/>
            <a:ext cx="1920240" cy="1234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37307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76656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GPU Memory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Deep-Dive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5176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Front-End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Same-padding (pad=1) — T=1920 preserved throughout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~93ms receptive field detects ECG peaks &amp; EDA spikes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 for ReLU layers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learned cross-channel representations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5176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GRU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2-gate (reset + update) vs LSTM's 3-gate — 25–30% fewer params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gradual physiological changes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anticipatory &amp; contextual patterns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z~0 retains memory (slow signals); z~1 replaces (state transitions)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960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heads, d_k=64 per head (256/4)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stress peaks &amp; key physiological transitions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all 1920 timesteps can attend to each other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520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pooling: parameter-free, robust aggregation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2 gates (reset, update)  —  LSTM: 3 gates (input, forget, output)  →  GRU achieves ~25–30% parameter reduction for equivalent hidden size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 (LOSO) Cross-Validation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folds — each subject held out once as test 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subject data leaks into training 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02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realistic generalisation estimate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95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normalisation recomputed per fold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87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dominance threshold for window labelling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Regularisation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lr=0.001, weight_decay=0.01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709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(4-class)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025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(FP16):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GradScaler — 20–25% less GPU memory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295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max_norm=5.0 — prevents BiGRU explosions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587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patience=6, max 25 epochs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6916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Balancing: WeightedRandomSampler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393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weight = inverse of class frequency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393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128-sample mini-batches with replacement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422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 oversampled during training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over loss reweighting — affects what the model sees, not just gradient scaling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Balancing: WeightedRandomSampler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weight = inverse of class frequency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133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128-sample mini-batches with replacement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657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 oversampled during 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4133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over loss reweighting — affects what the model sees, not just gradient scaling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Baseline Model (No Sampling)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± 0.09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56032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 ± 0.11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4612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5603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0.45–0.77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Range</a:t>
            </a:r>
            <a:endParaRPr lang="en-US" sz="1000" dirty="0"/>
          </a:p>
        </p:txBody>
      </p:sp>
      <p:pic>
        <p:nvPicPr>
          <p:cNvPr id="13" name="Image 0" descr="/home/claude/baseline_accuracy_per_sub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74520"/>
            <a:ext cx="4572000" cy="1828800"/>
          </a:xfrm>
          <a:prstGeom prst="rect">
            <a:avLst/>
          </a:prstGeom>
        </p:spPr>
      </p:pic>
      <p:pic>
        <p:nvPicPr>
          <p:cNvPr id="14" name="Image 1" descr="/home/claude/baselin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3840480" cy="2468880"/>
          </a:xfrm>
          <a:prstGeom prst="rect">
            <a:avLst/>
          </a:prstGeom>
        </p:spPr>
      </p:pic>
      <p:pic>
        <p:nvPicPr>
          <p:cNvPr id="15" name="Image 2" descr="/home/claude/baseline_per_class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03320"/>
            <a:ext cx="4389120" cy="137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0" y="4343400"/>
            <a:ext cx="1783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029200" y="4343400"/>
            <a:ext cx="16459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239512" y="4343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F1 = 0.78 ✓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49440" y="4343400"/>
            <a:ext cx="1783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949440" y="4343400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159752" y="434340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Stress: F1 = 0.18 ✗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029200" y="4690872"/>
            <a:ext cx="1783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029200" y="4690872"/>
            <a:ext cx="164592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239512" y="469087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Amusement: F1 = 0.03 ✗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949440" y="4690872"/>
            <a:ext cx="1783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49440" y="4690872"/>
            <a:ext cx="16459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159752" y="469087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Meditation: F1 = 0.18 ✗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02920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biased toward majority class — minority states near chance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Balanced Model (WeightedRandomSampler)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60320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± 0.09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56032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 ± 0.09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4612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5603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0.51–0.79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Range</a:t>
            </a:r>
            <a:endParaRPr lang="en-US" sz="1000" dirty="0"/>
          </a:p>
        </p:txBody>
      </p:sp>
      <p:pic>
        <p:nvPicPr>
          <p:cNvPr id="13" name="Image 0" descr="/home/claude/balanced_accuracy_per_sub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74520"/>
            <a:ext cx="4572000" cy="1828800"/>
          </a:xfrm>
          <a:prstGeom prst="rect">
            <a:avLst/>
          </a:prstGeom>
        </p:spPr>
      </p:pic>
      <p:pic>
        <p:nvPicPr>
          <p:cNvPr id="14" name="Image 1" descr="/home/claude/balanced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83080"/>
            <a:ext cx="3840480" cy="2468880"/>
          </a:xfrm>
          <a:prstGeom prst="rect">
            <a:avLst/>
          </a:prstGeom>
        </p:spPr>
      </p:pic>
      <p:pic>
        <p:nvPicPr>
          <p:cNvPr id="15" name="Image 2" descr="/home/claude/balanced_per_class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03320"/>
            <a:ext cx="4389120" cy="137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0" y="4343400"/>
            <a:ext cx="1783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029200" y="4343400"/>
            <a:ext cx="16459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239512" y="4343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F1: 0.18 → 0.26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239512" y="4526280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 relative gain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949440" y="4343400"/>
            <a:ext cx="1783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949440" y="4343400"/>
            <a:ext cx="16459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159752" y="434340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Recall: 25% → 34%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59752" y="4526280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percentage points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029200" y="4727448"/>
            <a:ext cx="1783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029200" y="4727448"/>
            <a:ext cx="16459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239512" y="47274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F1: 0.78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239512" y="4910328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no degradation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949440" y="4727448"/>
            <a:ext cx="1783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949440" y="4727448"/>
            <a:ext cx="164592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159752" y="472744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 F1: ~0.00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159752" y="4910328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still misclassified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00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Balanced — Side-by-Side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483489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ompare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5" y="568234"/>
            <a:ext cx="3468189" cy="1517333"/>
          </a:xfrm>
          <a:prstGeom prst="rect">
            <a:avLst/>
          </a:prstGeom>
        </p:spPr>
      </p:pic>
      <p:pic>
        <p:nvPicPr>
          <p:cNvPr id="5" name="Image 1" descr="/home/claude/compare_f1_mac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19657"/>
            <a:ext cx="3579223" cy="1565910"/>
          </a:xfrm>
          <a:prstGeom prst="rect">
            <a:avLst/>
          </a:prstGeom>
        </p:spPr>
      </p:pic>
      <p:pic>
        <p:nvPicPr>
          <p:cNvPr id="6" name="Image 2" descr="/home/claude/compare_per_class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264" y="2019517"/>
            <a:ext cx="3210198" cy="1331147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147943"/>
              </p:ext>
            </p:extLst>
          </p:nvPr>
        </p:nvGraphicFramePr>
        <p:xfrm>
          <a:off x="365760" y="3461004"/>
          <a:ext cx="8229600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 ± 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± 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 ± 0.11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± 0.09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— Stress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 (+44%)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— Amusement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Recall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 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Schmidt et al. (2018)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/ LDA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Bobade &amp; Vani 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Melchiades et al.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Ghosh et al.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GAF + DNN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Subject-sp.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Bansal et al.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StressNet + VGG-16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Subject-sp.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PAMG-AT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+ Transformer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(CNN-BiGRU)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CNN+BiGRU+Attn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868680"/>
            <a:ext cx="8229600" cy="329184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560320" y="868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80560" y="8686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3520" y="8686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8686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(%)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8686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172968"/>
            <a:ext cx="822960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1729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(CNN-BiGRU)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31729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CNN+BiGRU+Attn</a:t>
            </a:r>
            <a:endParaRPr lang="en-US" sz="1000" dirty="0"/>
          </a:p>
        </p:txBody>
      </p:sp>
      <p:sp>
        <p:nvSpPr>
          <p:cNvPr id="4" name="Text 12"/>
          <p:cNvSpPr/>
          <p:nvPr/>
        </p:nvSpPr>
        <p:spPr>
          <a:xfrm>
            <a:off x="4480560" y="31729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0" y="3172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31729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0" y="3172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✓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260604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7490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LOSO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approach with 4-class strict LOSO evaluation — no test-subject calibration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46120" y="374904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46120" y="3749040"/>
            <a:ext cx="26060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246120" y="37490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Sub-2M Params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38328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WESAD model achieving 4-class LOSO within sub-2M parameter budget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35040" y="3749040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035040" y="3749040"/>
            <a:ext cx="260604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35040" y="37490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72200" y="4114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methods (91–95%) not directly comparable to LOSO results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Strengths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params — 70–85% lighter than CNN-LSTM alternatives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46504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context captures both gradual &amp; anticipatory physiological signals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focuses on critical affective transitions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subject-independent LOSO — no test-time calibration needed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 faster training, 20–25% less GPU memory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improved stress recall by +9 pp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Amusement F1 ≈ 0.00 — 92% misclassified as baseline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746504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1773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F1 declined (0.18→0.13) with balanced sampling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167128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(baseline ~65–75%) constrains macro-F1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587752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6151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LOSO is inherently harder — not directly comparable to 3-class studies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008376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subjects — small pool; limited demographic diversity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429000"/>
            <a:ext cx="402336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similarity of amusement &amp; meditation creates overlap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Balanced Datasets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43560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datasets with more balanced class distributions or larger minority class samples to overcome WESAD's inherent imbalance constraints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960120"/>
            <a:ext cx="384048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05156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Augmentation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143560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SMOTE, time-series generative models (diffusion/GAN) to synthesise minority-class physiological windows during training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384048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9904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5392" y="105156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&amp; Quantisation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65392" y="143560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 to INT8 for microcontroller deployment; validate latency and accuracy on ARM Cortex-M hardware used in smart bands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8404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017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via Meta-Learning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40156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MAML-style few-shot adaptation with minimal subject-specific calibration data to bridge the LOSO generalisation gap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292608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73552" y="2926080"/>
            <a:ext cx="38404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73552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49040" y="3017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Fusion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340156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additional sensors (PPG, SpO2, EEG) and investigate late-fusion architectures for richer affective state modelling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2926080"/>
            <a:ext cx="265176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9904" y="2926080"/>
            <a:ext cx="38404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9904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65392" y="3017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Trial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65392" y="3401568"/>
            <a:ext cx="208483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with continuous in-the-wild monitoring across diverse occupational groups, moving beyond laboratory-induced states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CNN-BiGRU: Efficient Affective State Recognition for Real-World Wearables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46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3716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Architecture: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 parameters — 70–85% fewer than CNN-LSTM — enabling real-world wearable deployment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8046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13716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Performance: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12140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accuracy, Macro-F1 0.28 on hard 4-class LOSO — only sub-2M model in this setting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13716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7797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Impact: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277977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improved stress detection by +44% (F1: 0.18→0.26) without majority-class degradation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8046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13716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4381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Gains: 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343814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35–40% faster training, 20–25% less GPU memory vs BiLSTM — practical for edge hardware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8046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A3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050792"/>
            <a:ext cx="13716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0965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Evaluation: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68880" y="409651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subject-independent LOSO — no test-time calibration, clinically meaningful estimates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Indrajeet Mondal  ·  Susmita Bera  ·  Rajeev Nayan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Application, Narula Institute of Technology, Kolkata,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1783080" cy="1005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43708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1044" y="3720955"/>
            <a:ext cx="1783080" cy="1005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81044" y="378463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81044" y="436070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73230" y="3776145"/>
            <a:ext cx="1783080" cy="1005840"/>
          </a:xfrm>
          <a:prstGeom prst="rect">
            <a:avLst/>
          </a:prstGeom>
          <a:solidFill>
            <a:srgbClr val="162030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73230" y="383460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73230" y="441067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1872</Words>
  <Application>Microsoft Office PowerPoint</Application>
  <PresentationFormat>On-screen Show (16:9)</PresentationFormat>
  <Paragraphs>418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CNN-BiGRU for Affective State Recognition</dc:title>
  <dc:subject>PptxGenJS Presentation</dc:subject>
  <dc:creator>PptxGenJS</dc:creator>
  <cp:lastModifiedBy>Indrajeet Mondal</cp:lastModifiedBy>
  <cp:revision>5</cp:revision>
  <dcterms:created xsi:type="dcterms:W3CDTF">2026-05-18T06:11:45Z</dcterms:created>
  <dcterms:modified xsi:type="dcterms:W3CDTF">2026-05-18T12:41:31Z</dcterms:modified>
</cp:coreProperties>
</file>